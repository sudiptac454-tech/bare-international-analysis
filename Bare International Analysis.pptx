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84" r:id="rId6"/>
    <p:sldId id="277" r:id="rId7"/>
    <p:sldId id="287" r:id="rId8"/>
    <p:sldId id="290" r:id="rId9"/>
    <p:sldId id="291" r:id="rId10"/>
    <p:sldId id="292" r:id="rId11"/>
    <p:sldId id="262" r:id="rId12"/>
    <p:sldId id="263" r:id="rId13"/>
    <p:sldId id="286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dipta\OneDrive\CoachX-Jan-2026\Projects%20Excel\Project-3(Bare%20International%20Analysis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dipta\OneDrive\CoachX-Jan-2026\Projects%20Excel\Project-3(Bare%20International%20Analysis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dipta\OneDrive\CoachX-Jan-2026\Projects%20Excel\Project-3(Bare%20International%20Analysis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dipta\OneDrive\CoachX-Jan-2026\Projects%20Excel\Project-3(Bare%20International%20Analysis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[Project-3(Bare International Analysis).xlsx]Qs)Part-3!PivotTable2</c:name>
    <c:fmtId val="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'Qs)Part-3'!$B$3:$B$4</c:f>
              <c:strCache>
                <c:ptCount val="1"/>
                <c:pt idx="0">
                  <c:v>Average Performer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6F-4733-B1D7-4D60F47874F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6F-4733-B1D7-4D60F47874F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86F-4733-B1D7-4D60F47874F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86F-4733-B1D7-4D60F47874F0}"/>
              </c:ext>
            </c:extLst>
          </c:dPt>
          <c:dLbls>
            <c:dLbl>
              <c:idx val="3"/>
              <c:tx>
                <c:rich>
                  <a:bodyPr/>
                  <a:lstStyle/>
                  <a:p>
                    <a:fld id="{C5BFF8C9-61F7-49DC-8FE8-429059776EF9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086F-4733-B1D7-4D60F47874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'Qs)Part-3'!$B$5:$B$9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0.47368421052631576</c:v>
                </c:pt>
                <c:pt idx="2">
                  <c:v>0.3888888888888889</c:v>
                </c:pt>
                <c:pt idx="3">
                  <c:v>0.58823529411764708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86F-4733-B1D7-4D60F47874F0}"/>
            </c:ext>
          </c:extLst>
        </c:ser>
        <c:ser>
          <c:idx val="1"/>
          <c:order val="1"/>
          <c:tx>
            <c:strRef>
              <c:f>'Qs)Part-3'!$C$3:$C$4</c:f>
              <c:strCache>
                <c:ptCount val="1"/>
                <c:pt idx="0">
                  <c:v>Bottom Performer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'Qs)Part-3'!$C$5:$C$9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5.2631578947368418E-2</c:v>
                </c:pt>
                <c:pt idx="2">
                  <c:v>0.16666666666666666</c:v>
                </c:pt>
                <c:pt idx="3">
                  <c:v>0.17647058823529413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086F-4733-B1D7-4D60F47874F0}"/>
            </c:ext>
          </c:extLst>
        </c:ser>
        <c:ser>
          <c:idx val="2"/>
          <c:order val="2"/>
          <c:tx>
            <c:strRef>
              <c:f>'Qs)Part-3'!$D$3:$D$4</c:f>
              <c:strCache>
                <c:ptCount val="1"/>
                <c:pt idx="0">
                  <c:v>High Performer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'Qs)Part-3'!$D$5:$D$9</c:f>
              <c:numCache>
                <c:formatCode>0.00%</c:formatCode>
                <c:ptCount val="4"/>
                <c:pt idx="0">
                  <c:v>0.2857142857142857</c:v>
                </c:pt>
                <c:pt idx="1">
                  <c:v>0.21052631578947367</c:v>
                </c:pt>
                <c:pt idx="2">
                  <c:v>0.1111111111111111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5-086F-4733-B1D7-4D60F47874F0}"/>
            </c:ext>
          </c:extLst>
        </c:ser>
        <c:ser>
          <c:idx val="3"/>
          <c:order val="3"/>
          <c:tx>
            <c:strRef>
              <c:f>'Qs)Part-3'!$E$3:$E$4</c:f>
              <c:strCache>
                <c:ptCount val="1"/>
                <c:pt idx="0">
                  <c:v>Low Performer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'Qs)Part-3'!$E$5:$E$9</c:f>
              <c:numCache>
                <c:formatCode>0.00%</c:formatCode>
                <c:ptCount val="4"/>
                <c:pt idx="0">
                  <c:v>0.42857142857142855</c:v>
                </c:pt>
                <c:pt idx="1">
                  <c:v>0.26315789473684209</c:v>
                </c:pt>
                <c:pt idx="2">
                  <c:v>0.33333333333333331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086F-4733-B1D7-4D60F4787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[Project-3(Bare International Analysis).xlsx]Qs)Part-3!PivotTable2</c:name>
    <c:fmtId val="8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'Qs)Part-3'!$B$3:$B$4</c:f>
              <c:strCache>
                <c:ptCount val="1"/>
                <c:pt idx="0">
                  <c:v>Average Performer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'Qs)Part-3'!$B$5:$B$9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0.47368421052631576</c:v>
                </c:pt>
                <c:pt idx="2">
                  <c:v>0.3888888888888889</c:v>
                </c:pt>
                <c:pt idx="3">
                  <c:v>0.58823529411764708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98-4B90-869F-D10916FB32B0}"/>
            </c:ext>
          </c:extLst>
        </c:ser>
        <c:ser>
          <c:idx val="1"/>
          <c:order val="1"/>
          <c:tx>
            <c:strRef>
              <c:f>'Qs)Part-3'!$C$3:$C$4</c:f>
              <c:strCache>
                <c:ptCount val="1"/>
                <c:pt idx="0">
                  <c:v>Bottom Performer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'Qs)Part-3'!$C$5:$C$9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5.2631578947368418E-2</c:v>
                </c:pt>
                <c:pt idx="2">
                  <c:v>0.16666666666666666</c:v>
                </c:pt>
                <c:pt idx="3">
                  <c:v>0.17647058823529413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98-4B90-869F-D10916FB32B0}"/>
            </c:ext>
          </c:extLst>
        </c:ser>
        <c:ser>
          <c:idx val="2"/>
          <c:order val="2"/>
          <c:tx>
            <c:strRef>
              <c:f>'Qs)Part-3'!$D$3:$D$4</c:f>
              <c:strCache>
                <c:ptCount val="1"/>
                <c:pt idx="0">
                  <c:v>High Performer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'Qs)Part-3'!$D$5:$D$9</c:f>
              <c:numCache>
                <c:formatCode>0.00%</c:formatCode>
                <c:ptCount val="4"/>
                <c:pt idx="0">
                  <c:v>0.2857142857142857</c:v>
                </c:pt>
                <c:pt idx="1">
                  <c:v>0.21052631578947367</c:v>
                </c:pt>
                <c:pt idx="2">
                  <c:v>0.1111111111111111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98-4B90-869F-D10916FB32B0}"/>
            </c:ext>
          </c:extLst>
        </c:ser>
        <c:ser>
          <c:idx val="3"/>
          <c:order val="3"/>
          <c:tx>
            <c:strRef>
              <c:f>'Qs)Part-3'!$E$3:$E$4</c:f>
              <c:strCache>
                <c:ptCount val="1"/>
                <c:pt idx="0">
                  <c:v>Low Performer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'Qs)Part-3'!$E$5:$E$9</c:f>
              <c:numCache>
                <c:formatCode>0.00%</c:formatCode>
                <c:ptCount val="4"/>
                <c:pt idx="0">
                  <c:v>0.42857142857142855</c:v>
                </c:pt>
                <c:pt idx="1">
                  <c:v>0.26315789473684209</c:v>
                </c:pt>
                <c:pt idx="2">
                  <c:v>0.33333333333333331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498-4B90-869F-D10916FB32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59959200"/>
        <c:axId val="1359956320"/>
        <c:axId val="0"/>
      </c:bar3DChart>
      <c:catAx>
        <c:axId val="135995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956320"/>
        <c:crosses val="autoZero"/>
        <c:auto val="1"/>
        <c:lblAlgn val="ctr"/>
        <c:lblOffset val="100"/>
        <c:noMultiLvlLbl val="0"/>
      </c:catAx>
      <c:valAx>
        <c:axId val="135995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959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[Project-3(Bare International Analysis).xlsx]Qs)Part-3!PivotTable2</c:name>
    <c:fmtId val="12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436718558328357"/>
          <c:y val="4.9261083743842367E-2"/>
          <c:w val="0.52524082637818426"/>
          <c:h val="0.81310870623930631"/>
        </c:manualLayout>
      </c:layout>
      <c:lineChart>
        <c:grouping val="standard"/>
        <c:varyColors val="0"/>
        <c:ser>
          <c:idx val="0"/>
          <c:order val="0"/>
          <c:tx>
            <c:strRef>
              <c:f>'Qs)Part-3'!$B$3:$B$4</c:f>
              <c:strCache>
                <c:ptCount val="1"/>
                <c:pt idx="0">
                  <c:v>Average Performer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'Qs)Part-3'!$B$5:$B$9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0.47368421052631576</c:v>
                </c:pt>
                <c:pt idx="2">
                  <c:v>0.3888888888888889</c:v>
                </c:pt>
                <c:pt idx="3">
                  <c:v>0.58823529411764708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ED-49EB-B4A3-2425F94F0E09}"/>
            </c:ext>
          </c:extLst>
        </c:ser>
        <c:ser>
          <c:idx val="1"/>
          <c:order val="1"/>
          <c:tx>
            <c:strRef>
              <c:f>'Qs)Part-3'!$C$3:$C$4</c:f>
              <c:strCache>
                <c:ptCount val="1"/>
                <c:pt idx="0">
                  <c:v>Bottom Performer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'Qs)Part-3'!$C$5:$C$9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5.2631578947368418E-2</c:v>
                </c:pt>
                <c:pt idx="2">
                  <c:v>0.16666666666666666</c:v>
                </c:pt>
                <c:pt idx="3">
                  <c:v>0.17647058823529413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ED-49EB-B4A3-2425F94F0E09}"/>
            </c:ext>
          </c:extLst>
        </c:ser>
        <c:ser>
          <c:idx val="2"/>
          <c:order val="2"/>
          <c:tx>
            <c:strRef>
              <c:f>'Qs)Part-3'!$D$3:$D$4</c:f>
              <c:strCache>
                <c:ptCount val="1"/>
                <c:pt idx="0">
                  <c:v>High Performer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'Qs)Part-3'!$D$5:$D$9</c:f>
              <c:numCache>
                <c:formatCode>0.00%</c:formatCode>
                <c:ptCount val="4"/>
                <c:pt idx="0">
                  <c:v>0.2857142857142857</c:v>
                </c:pt>
                <c:pt idx="1">
                  <c:v>0.21052631578947367</c:v>
                </c:pt>
                <c:pt idx="2">
                  <c:v>0.1111111111111111</c:v>
                </c:pt>
                <c:pt idx="3">
                  <c:v>0.11764705882352941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6ED-49EB-B4A3-2425F94F0E09}"/>
            </c:ext>
          </c:extLst>
        </c:ser>
        <c:ser>
          <c:idx val="3"/>
          <c:order val="3"/>
          <c:tx>
            <c:strRef>
              <c:f>'Qs)Part-3'!$E$3:$E$4</c:f>
              <c:strCache>
                <c:ptCount val="1"/>
                <c:pt idx="0">
                  <c:v>Low Performer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'Qs)Part-3'!$E$5:$E$9</c:f>
              <c:numCache>
                <c:formatCode>0.00%</c:formatCode>
                <c:ptCount val="4"/>
                <c:pt idx="0">
                  <c:v>0.42857142857142855</c:v>
                </c:pt>
                <c:pt idx="1">
                  <c:v>0.26315789473684209</c:v>
                </c:pt>
                <c:pt idx="2">
                  <c:v>0.33333333333333331</c:v>
                </c:pt>
                <c:pt idx="3">
                  <c:v>0.11764705882352941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6ED-49EB-B4A3-2425F94F0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67270432"/>
        <c:axId val="1267268992"/>
      </c:lineChart>
      <c:catAx>
        <c:axId val="1267270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7268992"/>
        <c:crosses val="autoZero"/>
        <c:auto val="1"/>
        <c:lblAlgn val="ctr"/>
        <c:lblOffset val="100"/>
        <c:noMultiLvlLbl val="0"/>
      </c:catAx>
      <c:valAx>
        <c:axId val="126726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7270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898556430446192"/>
          <c:y val="0.30085629921259843"/>
          <c:w val="0.28101441023575757"/>
          <c:h val="0.448987411056376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[Project-3(Bare International Analysis).xlsx]Qs)Part-3!PivotTable2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'Qs)Part-3'!$B$3:$B$4</c:f>
              <c:strCache>
                <c:ptCount val="1"/>
                <c:pt idx="0">
                  <c:v>Average Performer</c:v>
                </c:pt>
              </c:strCache>
            </c:strRef>
          </c:tx>
          <c:explosion val="9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537-4A92-A4DC-2EEC1D2AB9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537-4A92-A4DC-2EEC1D2AB9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537-4A92-A4DC-2EEC1D2AB9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537-4A92-A4DC-2EEC1D2AB942}"/>
              </c:ext>
            </c:extLst>
          </c:dPt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'Qs)Part-3'!$B$5:$B$9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0.47368421052631576</c:v>
                </c:pt>
                <c:pt idx="2">
                  <c:v>0.3888888888888889</c:v>
                </c:pt>
                <c:pt idx="3">
                  <c:v>0.58823529411764708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37-4A92-A4DC-2EEC1D2AB942}"/>
            </c:ext>
          </c:extLst>
        </c:ser>
        <c:ser>
          <c:idx val="1"/>
          <c:order val="1"/>
          <c:tx>
            <c:strRef>
              <c:f>'Qs)Part-3'!$C$3:$C$4</c:f>
              <c:strCache>
                <c:ptCount val="1"/>
                <c:pt idx="0">
                  <c:v>Bottom Performer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A537-4A92-A4DC-2EEC1D2AB9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A537-4A92-A4DC-2EEC1D2AB9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A537-4A92-A4DC-2EEC1D2AB9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A537-4A92-A4DC-2EEC1D2AB942}"/>
              </c:ext>
            </c:extLst>
          </c:dPt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'Qs)Part-3'!$C$5:$C$9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5.2631578947368418E-2</c:v>
                </c:pt>
                <c:pt idx="2">
                  <c:v>0.16666666666666666</c:v>
                </c:pt>
                <c:pt idx="3">
                  <c:v>0.17647058823529413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A537-4A92-A4DC-2EEC1D2AB942}"/>
            </c:ext>
          </c:extLst>
        </c:ser>
        <c:ser>
          <c:idx val="2"/>
          <c:order val="2"/>
          <c:tx>
            <c:strRef>
              <c:f>'Qs)Part-3'!$D$3:$D$4</c:f>
              <c:strCache>
                <c:ptCount val="1"/>
                <c:pt idx="0">
                  <c:v>High Performer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A537-4A92-A4DC-2EEC1D2AB9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A537-4A92-A4DC-2EEC1D2AB9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A537-4A92-A4DC-2EEC1D2AB9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A537-4A92-A4DC-2EEC1D2AB942}"/>
              </c:ext>
            </c:extLst>
          </c:dPt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'Qs)Part-3'!$D$5:$D$9</c:f>
              <c:numCache>
                <c:formatCode>0.00%</c:formatCode>
                <c:ptCount val="4"/>
                <c:pt idx="0">
                  <c:v>0.2857142857142857</c:v>
                </c:pt>
                <c:pt idx="1">
                  <c:v>0.21052631578947367</c:v>
                </c:pt>
                <c:pt idx="2">
                  <c:v>0.1111111111111111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A537-4A92-A4DC-2EEC1D2AB942}"/>
            </c:ext>
          </c:extLst>
        </c:ser>
        <c:ser>
          <c:idx val="3"/>
          <c:order val="3"/>
          <c:tx>
            <c:strRef>
              <c:f>'Qs)Part-3'!$E$3:$E$4</c:f>
              <c:strCache>
                <c:ptCount val="1"/>
                <c:pt idx="0">
                  <c:v>Low Performer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C-A537-4A92-A4DC-2EEC1D2AB9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E-A537-4A92-A4DC-2EEC1D2AB9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0-A537-4A92-A4DC-2EEC1D2AB9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2-A537-4A92-A4DC-2EEC1D2AB942}"/>
              </c:ext>
            </c:extLst>
          </c:dPt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'Qs)Part-3'!$E$5:$E$9</c:f>
              <c:numCache>
                <c:formatCode>0.00%</c:formatCode>
                <c:ptCount val="4"/>
                <c:pt idx="0">
                  <c:v>0.42857142857142855</c:v>
                </c:pt>
                <c:pt idx="1">
                  <c:v>0.26315789473684209</c:v>
                </c:pt>
                <c:pt idx="2">
                  <c:v>0.33333333333333331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3-A537-4A92-A4DC-2EEC1D2AB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939C-241D-4FDC-8DE8-4EE3F462EE22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AF473-2665-42A7-89E3-C7BA7EB58D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465970"/>
            <a:ext cx="573988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5"/>
            <a:ext cx="568452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5562"/>
            <a:ext cx="5684520" cy="441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4529818"/>
            <a:ext cx="5684520" cy="441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3040514"/>
            <a:ext cx="5684520" cy="1106942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38200" y="4993888"/>
            <a:ext cx="5684520" cy="1106942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2" y="822325"/>
            <a:ext cx="9329058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2" y="259556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019111" y="259556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024742" y="444613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019111" y="444613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24740" y="306977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19109" y="306977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024740" y="492034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019109" y="492034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eft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480" y="4879291"/>
            <a:ext cx="5684520" cy="13255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er text with top bor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er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2" name="Online Image Placehold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3" name="Online Image Placehold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4" name="Online Image Placehold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5" name="Date Placeholder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four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621139"/>
          </a:xfrm>
        </p:spPr>
        <p:txBody>
          <a:bodyPr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2" name="Online Image Placehold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3" name="Online Image Placehold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4" name="Online Image Placehold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8200" y="4112198"/>
            <a:ext cx="3200400" cy="139597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8201" y="5511642"/>
            <a:ext cx="3200400" cy="84470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037"/>
            <a:ext cx="4573200" cy="1325563"/>
          </a:xfrm>
        </p:spPr>
        <p:txBody>
          <a:bodyPr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42" name="Footer Placeholder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43" name="Slide Number Placeholder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right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2376805"/>
            <a:ext cx="501396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4150042"/>
            <a:ext cx="5013960" cy="19611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10515600" cy="3080657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86582"/>
            <a:ext cx="5739882" cy="2074606"/>
          </a:xfrm>
        </p:spPr>
        <p:txBody>
          <a:bodyPr>
            <a:normAutofit/>
          </a:bodyPr>
          <a:lstStyle/>
          <a:p>
            <a:r>
              <a:rPr lang="en-US" sz="3200" dirty="0"/>
              <a:t>Evaluation of Style Advisor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/>
          <a:lstStyle/>
          <a:p>
            <a:r>
              <a:rPr lang="en-US" dirty="0"/>
              <a:t>Sudipta Chakraborty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4C1A1-66FC-E809-0469-A60A19E62AD0}"/>
              </a:ext>
            </a:extLst>
          </p:cNvPr>
          <p:cNvSpPr txBox="1"/>
          <p:nvPr/>
        </p:nvSpPr>
        <p:spPr>
          <a:xfrm>
            <a:off x="838200" y="2861188"/>
            <a:ext cx="4216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Comprehensive Analysis and Insights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F4BB2-624B-43EE-8846-5659141C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IN" dirty="0"/>
              <a:t>Introduction &amp; Objectives </a:t>
            </a:r>
          </a:p>
          <a:p>
            <a:r>
              <a:rPr lang="en-IN" dirty="0"/>
              <a:t>Data Overview </a:t>
            </a:r>
          </a:p>
          <a:p>
            <a:r>
              <a:rPr lang="en-IN" dirty="0"/>
              <a:t>Performance Grading </a:t>
            </a:r>
          </a:p>
          <a:p>
            <a:r>
              <a:rPr lang="en-IN" dirty="0"/>
              <a:t>Pivot Table Analysis </a:t>
            </a:r>
          </a:p>
          <a:p>
            <a:r>
              <a:rPr lang="en-US" dirty="0"/>
              <a:t>Benefits</a:t>
            </a:r>
          </a:p>
          <a:p>
            <a:r>
              <a:rPr lang="en-IN" dirty="0"/>
              <a:t>High Performer Analysis </a:t>
            </a:r>
          </a:p>
          <a:p>
            <a:r>
              <a:rPr lang="en-IN" dirty="0"/>
              <a:t>Visualizations </a:t>
            </a:r>
          </a:p>
          <a:p>
            <a:r>
              <a:rPr lang="en-IN" dirty="0"/>
              <a:t>Key Insights </a:t>
            </a:r>
          </a:p>
          <a:p>
            <a:r>
              <a:rPr lang="en-IN" dirty="0"/>
              <a:t>Recommendations </a:t>
            </a:r>
          </a:p>
          <a:p>
            <a:r>
              <a:rPr lang="en-IN" dirty="0"/>
              <a:t>Conclusion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/>
          <a:lstStyle/>
          <a:p>
            <a:r>
              <a:rPr lang="en-IN" dirty="0"/>
              <a:t>Introduction &amp; Objectives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dirty="0"/>
              <a:t>Overview: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 Style Advisor performance across multiple store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customer interaction, service quality, and upsell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actionable insights for improving customer experience</a:t>
            </a:r>
          </a:p>
          <a:p>
            <a:r>
              <a:rPr lang="en-US" b="1" dirty="0"/>
              <a:t>Objectives: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high-performing and low-performing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trends in Style Advisor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 training and operational improvements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20877"/>
            <a:ext cx="2743200" cy="1081549"/>
          </a:xfrm>
        </p:spPr>
        <p:txBody>
          <a:bodyPr>
            <a:normAutofit fontScale="90000"/>
          </a:bodyPr>
          <a:lstStyle/>
          <a:p>
            <a:r>
              <a:rPr lang="en-IN" dirty="0"/>
              <a:t>Data Overview</a:t>
            </a:r>
            <a:endParaRPr lang="en-ZA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80EA4A2-4719-41C0-949E-AF9166CA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Employee orientation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97A1D68-0269-4F8D-8A4E-B8D9753C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5F125D-CB37-EF0B-4F04-68B8DD8AAB81}"/>
              </a:ext>
            </a:extLst>
          </p:cNvPr>
          <p:cNvSpPr/>
          <p:nvPr/>
        </p:nvSpPr>
        <p:spPr>
          <a:xfrm>
            <a:off x="4677748" y="1425677"/>
            <a:ext cx="2676781" cy="1602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Mystery shopping visits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Auditor inputs: Age, Gender, Attire, Observations</a:t>
            </a:r>
            <a:endParaRPr lang="en-IN" sz="1400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3A400B5-5D3C-0A33-F715-CD60D1B49244}"/>
              </a:ext>
            </a:extLst>
          </p:cNvPr>
          <p:cNvSpPr/>
          <p:nvPr/>
        </p:nvSpPr>
        <p:spPr>
          <a:xfrm>
            <a:off x="7659329" y="2123768"/>
            <a:ext cx="95127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A52E36-37EF-AD7D-EAE3-0E2D45C63E66}"/>
              </a:ext>
            </a:extLst>
          </p:cNvPr>
          <p:cNvSpPr/>
          <p:nvPr/>
        </p:nvSpPr>
        <p:spPr>
          <a:xfrm>
            <a:off x="8957186" y="1425677"/>
            <a:ext cx="2743200" cy="1602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Record visit details: Store, Zone, Duration, Number of Customers/Advisors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Capture interaction specifics with Style Advisors</a:t>
            </a:r>
            <a:endParaRPr lang="en-IN" sz="1400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F09CCD7-E476-27CD-BD4A-29AF4948EEE3}"/>
              </a:ext>
            </a:extLst>
          </p:cNvPr>
          <p:cNvSpPr/>
          <p:nvPr/>
        </p:nvSpPr>
        <p:spPr>
          <a:xfrm>
            <a:off x="10402529" y="335280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34F3D9-151E-8B39-3AB4-3673D8E7A5C0}"/>
              </a:ext>
            </a:extLst>
          </p:cNvPr>
          <p:cNvSpPr/>
          <p:nvPr/>
        </p:nvSpPr>
        <p:spPr>
          <a:xfrm>
            <a:off x="8957185" y="4655673"/>
            <a:ext cx="2743199" cy="1700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Scoring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Quantitative: Evaluation Score (1–100)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Qualitative: Auditor feedback &amp; 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11CF9A-8464-D763-3937-7C8A2600654C}"/>
              </a:ext>
            </a:extLst>
          </p:cNvPr>
          <p:cNvSpPr/>
          <p:nvPr/>
        </p:nvSpPr>
        <p:spPr>
          <a:xfrm>
            <a:off x="4677747" y="4655673"/>
            <a:ext cx="2676781" cy="1700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Performance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Store Ambiance, First Impressions,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Recommendations, Trial &amp; Upsell, Objection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Closure &amp; Care, Overall Experience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4954872B-74D9-6E5B-B6FF-EC6D7504F0EB}"/>
              </a:ext>
            </a:extLst>
          </p:cNvPr>
          <p:cNvSpPr/>
          <p:nvPr/>
        </p:nvSpPr>
        <p:spPr>
          <a:xfrm>
            <a:off x="7576885" y="5506011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E5F3-E6AC-A7B5-CBD4-1F61BA35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2624-9EF6-CF70-AB34-E116B1046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170039"/>
            <a:ext cx="5684520" cy="1101213"/>
          </a:xfrm>
        </p:spPr>
        <p:txBody>
          <a:bodyPr/>
          <a:lstStyle/>
          <a:p>
            <a:r>
              <a:rPr lang="en-IN" dirty="0"/>
              <a:t>Performance Grading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3DCD6-F066-4A6E-6E3E-6F3C9A2C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5</a:t>
            </a:fld>
            <a:endParaRPr lang="en-Z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F165B2-3C15-5DE7-0D43-10A302607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088389"/>
              </p:ext>
            </p:extLst>
          </p:nvPr>
        </p:nvGraphicFramePr>
        <p:xfrm>
          <a:off x="838200" y="2629694"/>
          <a:ext cx="10515600" cy="27736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107709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753152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1283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Score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295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90–100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 – Exceeded expectations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512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80–89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– Met expectations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677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70–79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– Needs minor 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58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60–69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Below Average – Requires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57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 – Immediate corrective 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175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079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0EE7-BEA7-F61D-F5B6-1D028A0C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E37F-E66B-5CAE-0402-2D3D60DC6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170039"/>
            <a:ext cx="5684520" cy="1101213"/>
          </a:xfrm>
        </p:spPr>
        <p:txBody>
          <a:bodyPr>
            <a:normAutofit/>
          </a:bodyPr>
          <a:lstStyle/>
          <a:p>
            <a:r>
              <a:rPr lang="en-IN" sz="3200" dirty="0"/>
              <a:t>Average Evaluation Score by Zone</a:t>
            </a:r>
            <a:endParaRPr lang="en-ZA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AE2DB-FAF3-4D92-BC58-E856D4F8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6</a:t>
            </a:fld>
            <a:endParaRPr lang="en-Z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50F9D-F54A-1FE6-0C8E-5F30A3F9F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90439"/>
              </p:ext>
            </p:extLst>
          </p:nvPr>
        </p:nvGraphicFramePr>
        <p:xfrm>
          <a:off x="2359741" y="2418736"/>
          <a:ext cx="6990735" cy="225500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6168">
                  <a:extLst>
                    <a:ext uri="{9D8B030D-6E8A-4147-A177-3AD203B41FA5}">
                      <a16:colId xmlns:a16="http://schemas.microsoft.com/office/drawing/2014/main" val="1510770934"/>
                    </a:ext>
                  </a:extLst>
                </a:gridCol>
                <a:gridCol w="4244567">
                  <a:extLst>
                    <a:ext uri="{9D8B030D-6E8A-4147-A177-3AD203B41FA5}">
                      <a16:colId xmlns:a16="http://schemas.microsoft.com/office/drawing/2014/main" val="2475315254"/>
                    </a:ext>
                  </a:extLst>
                </a:gridCol>
              </a:tblGrid>
              <a:tr h="33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Zone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Average Evaluation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295548"/>
                  </a:ext>
                </a:extLst>
              </a:tr>
              <a:tr h="33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71.57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512771"/>
                  </a:ext>
                </a:extLst>
              </a:tr>
              <a:tr h="33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76.74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677323"/>
                  </a:ext>
                </a:extLst>
              </a:tr>
              <a:tr h="33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66.61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587742"/>
                  </a:ext>
                </a:extLst>
              </a:tr>
              <a:tr h="33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71.82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57099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Grand Total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71.79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1750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DBB41D-1415-BB0A-6EFA-8E5CACAA6708}"/>
              </a:ext>
            </a:extLst>
          </p:cNvPr>
          <p:cNvSpPr txBox="1"/>
          <p:nvPr/>
        </p:nvSpPr>
        <p:spPr>
          <a:xfrm>
            <a:off x="838200" y="4821229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Observations:</a:t>
            </a:r>
            <a:endParaRPr lang="en-US" dirty="0"/>
          </a:p>
          <a:p>
            <a:r>
              <a:rPr lang="en-US" dirty="0"/>
              <a:t>North Zone: Highest performance</a:t>
            </a:r>
          </a:p>
          <a:p>
            <a:r>
              <a:rPr lang="en-US" dirty="0"/>
              <a:t>South Zone: Lowest performance → area for improvement</a:t>
            </a:r>
          </a:p>
          <a:p>
            <a:r>
              <a:rPr lang="en-US" dirty="0"/>
              <a:t>Other zones moderate (~71–72)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44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D7C5-73C4-29C7-CDC5-CF95D81F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7904-FA67-156F-69BF-4F4B66D7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736131"/>
            <a:ext cx="5684520" cy="1102501"/>
          </a:xfrm>
        </p:spPr>
        <p:txBody>
          <a:bodyPr>
            <a:normAutofit/>
          </a:bodyPr>
          <a:lstStyle/>
          <a:p>
            <a:r>
              <a:rPr lang="en-IN" sz="3200" dirty="0"/>
              <a:t>High Performer Analysis</a:t>
            </a:r>
            <a:endParaRPr lang="en-ZA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488AA-A8A0-D1B8-1C26-EA27AE41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7</a:t>
            </a:fld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0533A8-C286-8D5A-C5B2-C1AFBE099BFF}"/>
              </a:ext>
            </a:extLst>
          </p:cNvPr>
          <p:cNvSpPr txBox="1"/>
          <p:nvPr/>
        </p:nvSpPr>
        <p:spPr>
          <a:xfrm>
            <a:off x="838200" y="4821229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Observations:</a:t>
            </a:r>
            <a:endParaRPr lang="en-US" dirty="0"/>
          </a:p>
          <a:p>
            <a:r>
              <a:rPr lang="en-US" dirty="0"/>
              <a:t>North Zone: Strong performance</a:t>
            </a:r>
          </a:p>
          <a:p>
            <a:r>
              <a:rPr lang="en-US" dirty="0"/>
              <a:t>South &amp; East: Focus areas for improvement</a:t>
            </a:r>
          </a:p>
          <a:p>
            <a:r>
              <a:rPr lang="en-US" dirty="0"/>
              <a:t>West: Majority are Average → potential to upgrade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F62626-93BB-8734-AF88-85F5E3428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754417"/>
              </p:ext>
            </p:extLst>
          </p:nvPr>
        </p:nvGraphicFramePr>
        <p:xfrm>
          <a:off x="855406" y="2241755"/>
          <a:ext cx="10498394" cy="230075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85914">
                  <a:extLst>
                    <a:ext uri="{9D8B030D-6E8A-4147-A177-3AD203B41FA5}">
                      <a16:colId xmlns:a16="http://schemas.microsoft.com/office/drawing/2014/main" val="35593073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317066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205439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293208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79674694"/>
                    </a:ext>
                  </a:extLst>
                </a:gridCol>
              </a:tblGrid>
              <a:tr h="460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Zone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High Performer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Average Performer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Low Performer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Bottom Performer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32408"/>
                  </a:ext>
                </a:extLst>
              </a:tr>
              <a:tr h="460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28.57%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42.86%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447376"/>
                  </a:ext>
                </a:extLst>
              </a:tr>
              <a:tr h="460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21.05%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47.37%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5.26%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99593"/>
                  </a:ext>
                </a:extLst>
              </a:tr>
              <a:tr h="460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33.33%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16.67%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9024"/>
                  </a:ext>
                </a:extLst>
              </a:tr>
              <a:tr h="460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58.82%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17.65%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8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789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Visualizations</a:t>
            </a:r>
            <a:endParaRPr lang="en-US" dirty="0"/>
          </a:p>
        </p:txBody>
      </p:sp>
      <p:sp>
        <p:nvSpPr>
          <p:cNvPr id="115" name="Slide Number Placeholder 114">
            <a:extLst>
              <a:ext uri="{FF2B5EF4-FFF2-40B4-BE49-F238E27FC236}">
                <a16:creationId xmlns:a16="http://schemas.microsoft.com/office/drawing/2014/main" id="{47C21FD0-6144-422A-9727-F3249A6B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26F9D92-8CCB-CC35-0F70-5EE6A8076E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502563"/>
              </p:ext>
            </p:extLst>
          </p:nvPr>
        </p:nvGraphicFramePr>
        <p:xfrm>
          <a:off x="78659" y="2794819"/>
          <a:ext cx="373625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B6C655E4-0A05-90E4-A98E-6CD6501170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665556"/>
              </p:ext>
            </p:extLst>
          </p:nvPr>
        </p:nvGraphicFramePr>
        <p:xfrm>
          <a:off x="3814917" y="2863645"/>
          <a:ext cx="442771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0C60167C-02F2-ADBA-DA23-A9941BF26A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495407"/>
              </p:ext>
            </p:extLst>
          </p:nvPr>
        </p:nvGraphicFramePr>
        <p:xfrm>
          <a:off x="8242629" y="3217729"/>
          <a:ext cx="3880546" cy="2320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2" y="822325"/>
            <a:ext cx="9329058" cy="1325563"/>
          </a:xfrm>
        </p:spPr>
        <p:txBody>
          <a:bodyPr/>
          <a:lstStyle/>
          <a:p>
            <a:r>
              <a:rPr lang="en-IN" dirty="0"/>
              <a:t>Key Insights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587F-8DFD-4A31-9931-8A346A92D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2" y="2595562"/>
            <a:ext cx="4334689" cy="4742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Regional Performance: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CCD16A-B1A1-4FC6-94F4-823076E7E72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24740" y="3069773"/>
            <a:ext cx="4334689" cy="1219201"/>
          </a:xfrm>
        </p:spPr>
        <p:txBody>
          <a:bodyPr/>
          <a:lstStyle/>
          <a:p>
            <a:r>
              <a:rPr lang="en-IN" dirty="0"/>
              <a:t>North: Highest performance → benchmark</a:t>
            </a:r>
          </a:p>
          <a:p>
            <a:r>
              <a:rPr lang="en-US" dirty="0"/>
              <a:t>South: Lowest → targeted coaching required</a:t>
            </a:r>
          </a:p>
          <a:p>
            <a:r>
              <a:rPr lang="en-US" dirty="0"/>
              <a:t>East &amp; West: Moderate → opportunities for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4DE8-F909-4081-9F20-47494092292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019111" y="2595562"/>
            <a:ext cx="4334689" cy="474211"/>
          </a:xfrm>
        </p:spPr>
        <p:txBody>
          <a:bodyPr/>
          <a:lstStyle/>
          <a:p>
            <a:r>
              <a:rPr lang="en-IN" dirty="0"/>
              <a:t>Trends Over Time: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ADB6C6-1D18-4340-A5EF-7A4038798E1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19109" y="3069773"/>
            <a:ext cx="4334689" cy="1219201"/>
          </a:xfrm>
        </p:spPr>
        <p:txBody>
          <a:bodyPr/>
          <a:lstStyle/>
          <a:p>
            <a:r>
              <a:rPr lang="en-US" dirty="0"/>
              <a:t>Overall scores stable around 71–72</a:t>
            </a:r>
          </a:p>
          <a:p>
            <a:r>
              <a:rPr lang="en-US" dirty="0"/>
              <a:t>Some positive trends; select dips need attention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1EEF9-4CD0-4C5D-AA3F-A7E03936664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024742" y="4446132"/>
            <a:ext cx="4334689" cy="474211"/>
          </a:xfrm>
        </p:spPr>
        <p:txBody>
          <a:bodyPr/>
          <a:lstStyle/>
          <a:p>
            <a:r>
              <a:rPr lang="en-IN" dirty="0"/>
              <a:t>Performance Distribution: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C9DABE2-9B69-4D86-AFBB-CBEB8E957E7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024740" y="4920343"/>
            <a:ext cx="4334689" cy="1219201"/>
          </a:xfrm>
        </p:spPr>
        <p:txBody>
          <a:bodyPr>
            <a:normAutofit/>
          </a:bodyPr>
          <a:lstStyle/>
          <a:p>
            <a:r>
              <a:rPr lang="en-US" dirty="0"/>
              <a:t>High performers concentrated in North</a:t>
            </a:r>
          </a:p>
          <a:p>
            <a:r>
              <a:rPr lang="en-US" dirty="0"/>
              <a:t>South &amp; East → highest % of low performers</a:t>
            </a:r>
          </a:p>
          <a:p>
            <a:r>
              <a:rPr lang="en-US" dirty="0"/>
              <a:t>Majority of advisors are Average → potential to improve</a:t>
            </a: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84B61B7E-5114-4B02-895E-18609706A1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11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6552-D211-4D34-862F-65A44D0D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5"/>
            <a:ext cx="5684520" cy="947481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Recommendations &amp; Action Plan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206B-B172-4CB9-906E-864531763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7794"/>
            <a:ext cx="5684520" cy="3834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Zone-Specific Actions: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3BF054-FDBC-4318-8DA7-42C337A16B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2328182"/>
            <a:ext cx="5684520" cy="12507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North:</a:t>
            </a:r>
            <a:r>
              <a:rPr lang="en-US" dirty="0"/>
              <a:t> Maintain best practices, mentor other zones</a:t>
            </a:r>
          </a:p>
          <a:p>
            <a:r>
              <a:rPr lang="en-US" b="1" dirty="0"/>
              <a:t>South:</a:t>
            </a:r>
            <a:r>
              <a:rPr lang="en-US" dirty="0"/>
              <a:t> Conduct focused training, monitor improvement</a:t>
            </a:r>
          </a:p>
          <a:p>
            <a:r>
              <a:rPr lang="en-US" b="1" dirty="0"/>
              <a:t>East:</a:t>
            </a:r>
            <a:r>
              <a:rPr lang="en-US" dirty="0"/>
              <a:t> Targeted coaching &amp; upsell strategies</a:t>
            </a:r>
          </a:p>
          <a:p>
            <a:r>
              <a:rPr lang="en-IN" b="1" dirty="0"/>
              <a:t>West:</a:t>
            </a:r>
            <a:r>
              <a:rPr lang="en-IN" dirty="0"/>
              <a:t> Encourage Average → High performance conversion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7EB14-0C1E-4251-9589-93AC9E21E79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3684520"/>
            <a:ext cx="5684520" cy="445028"/>
          </a:xfrm>
        </p:spPr>
        <p:txBody>
          <a:bodyPr/>
          <a:lstStyle/>
          <a:p>
            <a:r>
              <a:rPr lang="en-IN" dirty="0"/>
              <a:t>General Actions: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F079C-3BCA-4686-AD7A-952F84BCE89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38200" y="4129548"/>
            <a:ext cx="5684520" cy="15633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Regular refresher training on Discovery, Recommendations, Objection Handling</a:t>
            </a:r>
          </a:p>
          <a:p>
            <a:r>
              <a:rPr lang="en-IN" dirty="0"/>
              <a:t>Reward high performers</a:t>
            </a:r>
          </a:p>
          <a:p>
            <a:r>
              <a:rPr lang="en-US" dirty="0"/>
              <a:t>Monitor trends monthly and adjust action plans</a:t>
            </a:r>
          </a:p>
          <a:p>
            <a:r>
              <a:rPr lang="en-US" dirty="0"/>
              <a:t>Leverage high performers to mentor Average performers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FAED4C67-6AD4-4960-9032-B8D5435CD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91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04E9-DA09-44FE-AB0C-6C47A1A9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200400" cy="2131458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965D33-D1D3-495D-86C3-87EEFE7AAC3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94968" y="3666331"/>
            <a:ext cx="4513006" cy="2690019"/>
          </a:xfrm>
        </p:spPr>
        <p:txBody>
          <a:bodyPr>
            <a:normAutofit/>
          </a:bodyPr>
          <a:lstStyle/>
          <a:p>
            <a:r>
              <a:rPr lang="en-US" b="1" dirty="0"/>
              <a:t>Recap: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North Zone: Strongest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South Zone: Needs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East &amp; West: Moderate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performance stable; majority of advisors are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</p:txBody>
      </p: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A8F8D211-2ACA-493C-890C-B7F6B63C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3EC21E-10B6-2008-BF85-96918BB0EABC}"/>
              </a:ext>
            </a:extLst>
          </p:cNvPr>
          <p:cNvSpPr txBox="1"/>
          <p:nvPr/>
        </p:nvSpPr>
        <p:spPr>
          <a:xfrm>
            <a:off x="5211097" y="658761"/>
            <a:ext cx="8455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Next Steps: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Focused training for low-performing zones</a:t>
            </a:r>
          </a:p>
          <a:p>
            <a:r>
              <a:rPr lang="en-US" dirty="0">
                <a:solidFill>
                  <a:schemeClr val="bg1"/>
                </a:solidFill>
              </a:rPr>
              <a:t>Reward and recognize high performers</a:t>
            </a:r>
          </a:p>
          <a:p>
            <a:r>
              <a:rPr lang="en-US" dirty="0">
                <a:solidFill>
                  <a:schemeClr val="bg1"/>
                </a:solidFill>
              </a:rPr>
              <a:t>Continuous monitoring and feedback</a:t>
            </a:r>
          </a:p>
          <a:p>
            <a:r>
              <a:rPr lang="en-US" dirty="0">
                <a:solidFill>
                  <a:schemeClr val="bg1"/>
                </a:solidFill>
              </a:rPr>
              <a:t>Use high performers as mentors to boost overall performance</a:t>
            </a:r>
          </a:p>
          <a:p>
            <a:endParaRPr lang="en-IN" dirty="0"/>
          </a:p>
        </p:txBody>
      </p: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673B7722-B4E0-E073-205F-6241F87548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67889"/>
              </p:ext>
            </p:extLst>
          </p:nvPr>
        </p:nvGraphicFramePr>
        <p:xfrm>
          <a:off x="4886632" y="2496584"/>
          <a:ext cx="7010400" cy="3786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93546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>
            <a:normAutofit/>
          </a:bodyPr>
          <a:lstStyle/>
          <a:p>
            <a:r>
              <a:rPr lang="en-US" dirty="0"/>
              <a:t>Sudipta Chakraborty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E046113-1034-4F4B-8AED-98885E8F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/>
          <a:lstStyle/>
          <a:p>
            <a:r>
              <a:rPr lang="en-US" dirty="0"/>
              <a:t>04/03/2026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 Block Orientation_tm03460514_LW_v2" id="{9A2976D9-D6A2-4C72-AA54-D6D4585DC826}" vid="{E979CFFE-0E1D-4C6F-8738-47AC19B539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Props1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2A4A0A-D2F4-4D0A-B8F3-A5181C4DEB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Employee orientation presentation</Template>
  <TotalTime>92</TotalTime>
  <Words>525</Words>
  <Application>Microsoft Office PowerPoint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Skeena</vt:lpstr>
      <vt:lpstr>Times New Roman</vt:lpstr>
      <vt:lpstr>Custom</vt:lpstr>
      <vt:lpstr>Evaluation of Style Advisor Performance</vt:lpstr>
      <vt:lpstr>Agenda</vt:lpstr>
      <vt:lpstr>Introduction &amp; Objectives</vt:lpstr>
      <vt:lpstr>Data Overview</vt:lpstr>
      <vt:lpstr>Performance Grading</vt:lpstr>
      <vt:lpstr>Average Evaluation Score by Zone</vt:lpstr>
      <vt:lpstr>High Performer Analysis</vt:lpstr>
      <vt:lpstr>Visualizations</vt:lpstr>
      <vt:lpstr>Key Insights</vt:lpstr>
      <vt:lpstr>Recommendations &amp; Action Plan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Sudipta Chakraborty</dc:creator>
  <cp:lastModifiedBy>Sudipta Chakraborty</cp:lastModifiedBy>
  <cp:revision>1</cp:revision>
  <dcterms:created xsi:type="dcterms:W3CDTF">2026-03-04T14:45:33Z</dcterms:created>
  <dcterms:modified xsi:type="dcterms:W3CDTF">2026-03-04T16:17:34Z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